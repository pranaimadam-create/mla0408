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439" y="45719"/>
            <a:ext cx="755650" cy="77723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75319" y="45719"/>
            <a:ext cx="777240" cy="7772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9153" y="18999"/>
            <a:ext cx="6425692" cy="798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8969" y="1188466"/>
            <a:ext cx="8150859" cy="3309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94433" y="347217"/>
            <a:ext cx="5753100" cy="1107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latin typeface="Times New Roman"/>
                <a:cs typeface="Times New Roman"/>
              </a:rPr>
              <a:t>SIMATS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ENGINEERING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 spc="-35" b="1">
                <a:latin typeface="Times New Roman"/>
                <a:cs typeface="Times New Roman"/>
              </a:rPr>
              <a:t>SAVEETHA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INSTITUTE</a:t>
            </a:r>
            <a:r>
              <a:rPr dirty="0" sz="1400" spc="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MEDICAL</a:t>
            </a:r>
            <a:r>
              <a:rPr dirty="0" sz="1400" spc="-7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TECHNOLOGY</a:t>
            </a:r>
            <a:r>
              <a:rPr dirty="0" sz="1400" spc="-1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SCIENCE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MLA0408</a:t>
            </a:r>
            <a:r>
              <a:rPr dirty="0" sz="1600" spc="-5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–</a:t>
            </a:r>
            <a:r>
              <a:rPr dirty="0" sz="1600" b="1">
                <a:latin typeface="Times New Roman"/>
                <a:cs typeface="Times New Roman"/>
              </a:rPr>
              <a:t>DEEP</a:t>
            </a:r>
            <a:r>
              <a:rPr dirty="0" sz="1600" spc="-10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LEARNING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4791" y="1774063"/>
            <a:ext cx="8152130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73985" marR="5080" indent="-266192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Times New Roman"/>
                <a:cs typeface="Times New Roman"/>
              </a:rPr>
              <a:t>Smart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Object</a:t>
            </a:r>
            <a:r>
              <a:rPr dirty="0" sz="2600" spc="-4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Recognition</a:t>
            </a:r>
            <a:r>
              <a:rPr dirty="0" sz="2600" spc="-5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using</a:t>
            </a:r>
            <a:r>
              <a:rPr dirty="0" sz="2600" spc="-2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Image</a:t>
            </a:r>
            <a:r>
              <a:rPr dirty="0" sz="2600" spc="-5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Enhancement</a:t>
            </a:r>
            <a:r>
              <a:rPr dirty="0" sz="2600" spc="-70" b="1">
                <a:latin typeface="Times New Roman"/>
                <a:cs typeface="Times New Roman"/>
              </a:rPr>
              <a:t> </a:t>
            </a:r>
            <a:r>
              <a:rPr dirty="0" sz="2600" spc="-25" b="1">
                <a:latin typeface="Times New Roman"/>
                <a:cs typeface="Times New Roman"/>
              </a:rPr>
              <a:t>and </a:t>
            </a:r>
            <a:r>
              <a:rPr dirty="0" sz="2600" b="1">
                <a:latin typeface="Times New Roman"/>
                <a:cs typeface="Times New Roman"/>
              </a:rPr>
              <a:t>Feature</a:t>
            </a:r>
            <a:r>
              <a:rPr dirty="0" sz="2600" spc="-10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Intelligence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984373"/>
            <a:ext cx="8801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CC0000"/>
                </a:solidFill>
                <a:latin typeface="Times New Roman"/>
                <a:cs typeface="Times New Roman"/>
              </a:rPr>
              <a:t>Guided</a:t>
            </a:r>
            <a:r>
              <a:rPr dirty="0" sz="1400" spc="-40" b="1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1400" spc="-25" b="1">
                <a:solidFill>
                  <a:srgbClr val="CC0000"/>
                </a:solidFill>
                <a:latin typeface="Times New Roman"/>
                <a:cs typeface="Times New Roman"/>
              </a:rPr>
              <a:t>by: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518992"/>
            <a:ext cx="1415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Times New Roman"/>
                <a:cs typeface="Times New Roman"/>
              </a:rPr>
              <a:t>DR.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SUDHAGAR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 spc="-5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25695" y="2815208"/>
            <a:ext cx="1361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C0000"/>
                </a:solidFill>
                <a:latin typeface="Times New Roman"/>
                <a:cs typeface="Times New Roman"/>
              </a:rPr>
              <a:t>Presented</a:t>
            </a:r>
            <a:r>
              <a:rPr dirty="0" sz="1800" spc="-105" b="1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CC0000"/>
                </a:solidFill>
                <a:latin typeface="Times New Roman"/>
                <a:cs typeface="Times New Roman"/>
              </a:rPr>
              <a:t>by: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25695" y="3313557"/>
            <a:ext cx="276415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Times New Roman"/>
                <a:cs typeface="Times New Roman"/>
              </a:rPr>
              <a:t>G.NAVEEN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KUMAR</a:t>
            </a:r>
            <a:r>
              <a:rPr dirty="0" sz="1200" spc="-10">
                <a:latin typeface="Times New Roman"/>
                <a:cs typeface="Times New Roman"/>
              </a:rPr>
              <a:t> REDDY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(192525288)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M.PRANAI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(192525068)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Times New Roman"/>
                <a:cs typeface="Times New Roman"/>
              </a:rPr>
              <a:t>B.BALA </a:t>
            </a:r>
            <a:r>
              <a:rPr dirty="0" sz="1200" spc="-40">
                <a:latin typeface="Times New Roman"/>
                <a:cs typeface="Times New Roman"/>
              </a:rPr>
              <a:t>NARAYANA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(192525157)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2267" rIns="0" bIns="0" rtlCol="0" vert="horz">
            <a:spAutoFit/>
          </a:bodyPr>
          <a:lstStyle/>
          <a:p>
            <a:pPr marL="179451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INTRODUCTION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70179" y="1071117"/>
            <a:ext cx="5659120" cy="34245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7815" marR="7620" indent="-28575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Smart</a:t>
            </a:r>
            <a:r>
              <a:rPr dirty="0" sz="1600" spc="21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Object</a:t>
            </a:r>
            <a:r>
              <a:rPr dirty="0" sz="1600" spc="22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Recognition</a:t>
            </a:r>
            <a:r>
              <a:rPr dirty="0" sz="1600" spc="21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22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22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fundamental</a:t>
            </a:r>
            <a:r>
              <a:rPr dirty="0" sz="1600" spc="22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challenge</a:t>
            </a:r>
            <a:r>
              <a:rPr dirty="0" sz="1600" spc="220">
                <a:latin typeface="Times New Roman"/>
                <a:cs typeface="Times New Roman"/>
              </a:rPr>
              <a:t>  </a:t>
            </a:r>
            <a:r>
              <a:rPr dirty="0" sz="1600" spc="-25">
                <a:latin typeface="Times New Roman"/>
                <a:cs typeface="Times New Roman"/>
              </a:rPr>
              <a:t>in </a:t>
            </a:r>
            <a:r>
              <a:rPr dirty="0" sz="1600" spc="-25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computer</a:t>
            </a:r>
            <a:r>
              <a:rPr dirty="0" sz="1600" spc="10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vision,</a:t>
            </a:r>
            <a:r>
              <a:rPr dirty="0" sz="1600" spc="10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combining</a:t>
            </a:r>
            <a:r>
              <a:rPr dirty="0" sz="1600" spc="12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11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image</a:t>
            </a:r>
            <a:r>
              <a:rPr dirty="0" sz="1600" spc="10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processing</a:t>
            </a:r>
            <a:r>
              <a:rPr dirty="0" sz="1600" spc="100">
                <a:latin typeface="Times New Roman"/>
                <a:cs typeface="Times New Roman"/>
              </a:rPr>
              <a:t> 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 spc="-25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machine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learning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techniques.</a:t>
            </a:r>
            <a:endParaRPr sz="1600">
              <a:latin typeface="Times New Roman"/>
              <a:cs typeface="Times New Roman"/>
            </a:endParaRPr>
          </a:p>
          <a:p>
            <a:pPr algn="just" marL="297815" marR="6985" indent="-285750">
              <a:lnSpc>
                <a:spcPct val="100000"/>
              </a:lnSpc>
              <a:spcBef>
                <a:spcPts val="60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This</a:t>
            </a:r>
            <a:r>
              <a:rPr dirty="0" sz="1600" spc="19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project</a:t>
            </a:r>
            <a:r>
              <a:rPr dirty="0" sz="1600" spc="18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proposes</a:t>
            </a:r>
            <a:r>
              <a:rPr dirty="0" sz="1600" spc="19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19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integrated</a:t>
            </a:r>
            <a:r>
              <a:rPr dirty="0" sz="1600" spc="18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pipeline</a:t>
            </a:r>
            <a:r>
              <a:rPr dirty="0" sz="1600" spc="19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190">
                <a:latin typeface="Times New Roman"/>
                <a:cs typeface="Times New Roman"/>
              </a:rPr>
              <a:t>  </a:t>
            </a:r>
            <a:r>
              <a:rPr dirty="0" sz="1600" spc="-10">
                <a:latin typeface="Times New Roman"/>
                <a:cs typeface="Times New Roman"/>
              </a:rPr>
              <a:t>Image </a:t>
            </a:r>
            <a:r>
              <a:rPr dirty="0" sz="1600" spc="-10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Enhancement,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Harris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Corner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Detection,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SIFT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Feature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Extraction, </a:t>
            </a:r>
            <a:r>
              <a:rPr dirty="0" sz="1600" spc="-10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PCA</a:t>
            </a:r>
            <a:r>
              <a:rPr dirty="0" sz="1600" spc="-1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Optimization.</a:t>
            </a:r>
            <a:endParaRPr sz="1600">
              <a:latin typeface="Times New Roman"/>
              <a:cs typeface="Times New Roman"/>
            </a:endParaRPr>
          </a:p>
          <a:p>
            <a:pPr algn="just" marL="297815" marR="5080" indent="-28575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3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3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improves</a:t>
            </a:r>
            <a:r>
              <a:rPr dirty="0" sz="1600" spc="3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recognition</a:t>
            </a:r>
            <a:r>
              <a:rPr dirty="0" sz="1600" spc="3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accuracy</a:t>
            </a:r>
            <a:r>
              <a:rPr dirty="0" sz="1600" spc="3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3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first</a:t>
            </a:r>
            <a:r>
              <a:rPr dirty="0" sz="1600" spc="3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enhancing </a:t>
            </a:r>
            <a:r>
              <a:rPr dirty="0" sz="1600" spc="-10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image</a:t>
            </a:r>
            <a:r>
              <a:rPr dirty="0" sz="1600" spc="14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quality,</a:t>
            </a:r>
            <a:r>
              <a:rPr dirty="0" sz="1600" spc="14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then</a:t>
            </a:r>
            <a:r>
              <a:rPr dirty="0" sz="1600" spc="13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detecting</a:t>
            </a:r>
            <a:r>
              <a:rPr dirty="0" sz="1600" spc="14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14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extracting</a:t>
            </a:r>
            <a:r>
              <a:rPr dirty="0" sz="1600" spc="140">
                <a:latin typeface="Times New Roman"/>
                <a:cs typeface="Times New Roman"/>
              </a:rPr>
              <a:t>  </a:t>
            </a:r>
            <a:r>
              <a:rPr dirty="0" sz="1600" spc="-10">
                <a:latin typeface="Times New Roman"/>
                <a:cs typeface="Times New Roman"/>
              </a:rPr>
              <a:t>discriminative </a:t>
            </a:r>
            <a:r>
              <a:rPr dirty="0" sz="1600" spc="-10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features,</a:t>
            </a:r>
            <a:r>
              <a:rPr dirty="0" sz="1600" spc="16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16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finally</a:t>
            </a:r>
            <a:r>
              <a:rPr dirty="0" sz="1600" spc="150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applying</a:t>
            </a:r>
            <a:r>
              <a:rPr dirty="0" sz="1600" spc="16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dimensionality</a:t>
            </a:r>
            <a:r>
              <a:rPr dirty="0" sz="1600" spc="155">
                <a:latin typeface="Times New Roman"/>
                <a:cs typeface="Times New Roman"/>
              </a:rPr>
              <a:t>  </a:t>
            </a:r>
            <a:r>
              <a:rPr dirty="0" sz="1600">
                <a:latin typeface="Times New Roman"/>
                <a:cs typeface="Times New Roman"/>
              </a:rPr>
              <a:t>reduction</a:t>
            </a:r>
            <a:r>
              <a:rPr dirty="0" sz="1600" spc="165">
                <a:latin typeface="Times New Roman"/>
                <a:cs typeface="Times New Roman"/>
              </a:rPr>
              <a:t>  </a:t>
            </a:r>
            <a:r>
              <a:rPr dirty="0" sz="1600" spc="-25">
                <a:latin typeface="Times New Roman"/>
                <a:cs typeface="Times New Roman"/>
              </a:rPr>
              <a:t>for </a:t>
            </a:r>
            <a:r>
              <a:rPr dirty="0" sz="1600" spc="-25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efficient,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robust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object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classification.</a:t>
            </a:r>
            <a:endParaRPr sz="1600">
              <a:latin typeface="Times New Roman"/>
              <a:cs typeface="Times New Roman"/>
            </a:endParaRPr>
          </a:p>
          <a:p>
            <a:pPr algn="just" marL="297815" marR="7620" indent="-28575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This</a:t>
            </a:r>
            <a:r>
              <a:rPr dirty="0" sz="1600" spc="2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approach</a:t>
            </a:r>
            <a:r>
              <a:rPr dirty="0" sz="1600" spc="2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2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applicable</a:t>
            </a:r>
            <a:r>
              <a:rPr dirty="0" sz="1600" spc="2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2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2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surveillance,</a:t>
            </a:r>
            <a:r>
              <a:rPr dirty="0" sz="1600" spc="2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robotics, </a:t>
            </a:r>
            <a:r>
              <a:rPr dirty="0" sz="1600" spc="-10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medical</a:t>
            </a:r>
            <a:r>
              <a:rPr dirty="0" sz="1600" spc="3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imaging,</a:t>
            </a:r>
            <a:r>
              <a:rPr dirty="0" sz="1600" spc="3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3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autonomous</a:t>
            </a:r>
            <a:r>
              <a:rPr dirty="0" sz="1600" spc="3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systems</a:t>
            </a:r>
            <a:r>
              <a:rPr dirty="0" sz="1600" spc="3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where</a:t>
            </a:r>
            <a:r>
              <a:rPr dirty="0" sz="1600" spc="3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precise</a:t>
            </a:r>
            <a:r>
              <a:rPr dirty="0" sz="1600" spc="31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 spc="-25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fast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object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recognition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critical.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8379" y="1219200"/>
            <a:ext cx="2903220" cy="3139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017" rIns="0" bIns="0" rtlCol="0" vert="horz">
            <a:spAutoFit/>
          </a:bodyPr>
          <a:lstStyle/>
          <a:p>
            <a:pPr marL="2256155">
              <a:lnSpc>
                <a:spcPct val="100000"/>
              </a:lnSpc>
              <a:spcBef>
                <a:spcPts val="105"/>
              </a:spcBef>
            </a:pPr>
            <a:r>
              <a:rPr dirty="0" sz="2600" spc="-10"/>
              <a:t>OBJECTIVE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490219" y="1009599"/>
            <a:ext cx="8063230" cy="3636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8450" algn="l"/>
              </a:tabLst>
            </a:pPr>
            <a:r>
              <a:rPr dirty="0" sz="1800" spc="-2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acquire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preprocess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input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enhancement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techniques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10">
                <a:latin typeface="Times New Roman"/>
                <a:cs typeface="Times New Roman"/>
              </a:rPr>
              <a:t> improved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imes New Roman"/>
                <a:cs typeface="Times New Roman"/>
              </a:rPr>
              <a:t>clarity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visibility.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corner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Harris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Corner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algorithm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identifying </a:t>
            </a:r>
            <a:r>
              <a:rPr dirty="0" sz="1800">
                <a:latin typeface="Times New Roman"/>
                <a:cs typeface="Times New Roman"/>
              </a:rPr>
              <a:t>key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structural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points.</a:t>
            </a:r>
            <a:endParaRPr sz="1800">
              <a:latin typeface="Times New Roman"/>
              <a:cs typeface="Times New Roman"/>
            </a:endParaRPr>
          </a:p>
          <a:p>
            <a:pPr marL="299085" marR="573405" indent="-287020">
              <a:lnSpc>
                <a:spcPct val="100000"/>
              </a:lnSpc>
              <a:spcBef>
                <a:spcPts val="49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extract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match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robust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local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SIFT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(Scale-</a:t>
            </a:r>
            <a:r>
              <a:rPr dirty="0" sz="1800">
                <a:latin typeface="Times New Roman"/>
                <a:cs typeface="Times New Roman"/>
              </a:rPr>
              <a:t>Invariant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Feature Transform)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across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varying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conditions.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apply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PCA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(Principal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Component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Analysis)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dimensionality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optimization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space.</a:t>
            </a:r>
            <a:endParaRPr sz="1800">
              <a:latin typeface="Times New Roman"/>
              <a:cs typeface="Times New Roman"/>
            </a:endParaRPr>
          </a:p>
          <a:p>
            <a:pPr marL="299085" marR="520700" indent="-287020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recognize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classify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objects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accurately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optimized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descriptors.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49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evaluate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system's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performance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terms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recognition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accuracy,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speed,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robustness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different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conditions.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8777" rIns="0" bIns="0" rtlCol="0" vert="horz">
            <a:spAutoFit/>
          </a:bodyPr>
          <a:lstStyle/>
          <a:p>
            <a:pPr marL="1321435">
              <a:lnSpc>
                <a:spcPct val="100000"/>
              </a:lnSpc>
              <a:spcBef>
                <a:spcPts val="105"/>
              </a:spcBef>
            </a:pPr>
            <a:r>
              <a:rPr dirty="0" sz="2600"/>
              <a:t>PROBLEM</a:t>
            </a:r>
            <a:r>
              <a:rPr dirty="0" sz="2600" spc="-90"/>
              <a:t> </a:t>
            </a:r>
            <a:r>
              <a:rPr dirty="0" sz="2600" spc="-30"/>
              <a:t>STATEMENT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490219" y="1194561"/>
            <a:ext cx="8166100" cy="32689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549910" indent="-3429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600">
                <a:latin typeface="Times New Roman"/>
                <a:cs typeface="Times New Roman"/>
              </a:rPr>
              <a:t>Raw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captured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images often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suffer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noise,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poor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illumination,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low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contrast,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which </a:t>
            </a:r>
            <a:r>
              <a:rPr dirty="0" sz="1600">
                <a:latin typeface="Times New Roman"/>
                <a:cs typeface="Times New Roman"/>
              </a:rPr>
              <a:t>significantly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reduces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recognition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accuracy.</a:t>
            </a:r>
            <a:endParaRPr sz="1600">
              <a:latin typeface="Times New Roman"/>
              <a:cs typeface="Times New Roman"/>
            </a:endParaRPr>
          </a:p>
          <a:p>
            <a:pPr marL="354965" marR="589280" indent="-342900">
              <a:lnSpc>
                <a:spcPct val="100000"/>
              </a:lnSpc>
              <a:spcBef>
                <a:spcPts val="49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600" spc="-10">
                <a:latin typeface="Times New Roman"/>
                <a:cs typeface="Times New Roman"/>
              </a:rPr>
              <a:t>Traditional </a:t>
            </a:r>
            <a:r>
              <a:rPr dirty="0" sz="1600">
                <a:latin typeface="Times New Roman"/>
                <a:cs typeface="Times New Roman"/>
              </a:rPr>
              <a:t>object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recognition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methods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rely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handcrafted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features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fail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under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scale, </a:t>
            </a:r>
            <a:r>
              <a:rPr dirty="0" sz="1600">
                <a:latin typeface="Times New Roman"/>
                <a:cs typeface="Times New Roman"/>
              </a:rPr>
              <a:t>rotation,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illumination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changes.</a:t>
            </a:r>
            <a:endParaRPr sz="1600">
              <a:latin typeface="Times New Roman"/>
              <a:cs typeface="Times New Roman"/>
            </a:endParaRPr>
          </a:p>
          <a:p>
            <a:pPr marL="354965" marR="433070" indent="-342900">
              <a:lnSpc>
                <a:spcPct val="100000"/>
              </a:lnSpc>
              <a:spcBef>
                <a:spcPts val="509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600" spc="-10">
                <a:latin typeface="Times New Roman"/>
                <a:cs typeface="Times New Roman"/>
              </a:rPr>
              <a:t>High-</a:t>
            </a:r>
            <a:r>
              <a:rPr dirty="0" sz="1600">
                <a:latin typeface="Times New Roman"/>
                <a:cs typeface="Times New Roman"/>
              </a:rPr>
              <a:t>dimensional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feature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vectors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increase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computational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cost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memory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usage,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limiting 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performance.</a:t>
            </a:r>
            <a:endParaRPr sz="1600">
              <a:latin typeface="Times New Roman"/>
              <a:cs typeface="Times New Roman"/>
            </a:endParaRPr>
          </a:p>
          <a:p>
            <a:pPr marL="354965" marR="203200" indent="-342900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600">
                <a:latin typeface="Times New Roman"/>
                <a:cs typeface="Times New Roman"/>
              </a:rPr>
              <a:t>Existing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lack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unified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pipeline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integrates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image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enhancement, corner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detection, </a:t>
            </a:r>
            <a:r>
              <a:rPr dirty="0" sz="1600">
                <a:latin typeface="Times New Roman"/>
                <a:cs typeface="Times New Roman"/>
              </a:rPr>
              <a:t>feature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extraction,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dimensionality </a:t>
            </a:r>
            <a:r>
              <a:rPr dirty="0" sz="1600" spc="-10">
                <a:latin typeface="Times New Roman"/>
                <a:cs typeface="Times New Roman"/>
              </a:rPr>
              <a:t>reduction.</a:t>
            </a:r>
            <a:endParaRPr sz="1600">
              <a:latin typeface="Times New Roman"/>
              <a:cs typeface="Times New Roman"/>
            </a:endParaRPr>
          </a:p>
          <a:p>
            <a:pPr marL="354965" marR="723900" indent="-342900">
              <a:lnSpc>
                <a:spcPct val="100000"/>
              </a:lnSpc>
              <a:spcBef>
                <a:spcPts val="49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600">
                <a:latin typeface="Times New Roman"/>
                <a:cs typeface="Times New Roman"/>
              </a:rPr>
              <a:t>Occlusion,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background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clutter,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intra-</a:t>
            </a:r>
            <a:r>
              <a:rPr dirty="0" sz="1600">
                <a:latin typeface="Times New Roman"/>
                <a:cs typeface="Times New Roman"/>
              </a:rPr>
              <a:t>class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variation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further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reduce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reliability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of </a:t>
            </a:r>
            <a:r>
              <a:rPr dirty="0" sz="1600">
                <a:latin typeface="Times New Roman"/>
                <a:cs typeface="Times New Roman"/>
              </a:rPr>
              <a:t>conventional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recognition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algorithms.</a:t>
            </a:r>
            <a:endParaRPr sz="16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600">
                <a:latin typeface="Times New Roman"/>
                <a:cs typeface="Times New Roman"/>
              </a:rPr>
              <a:t>There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need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integrated,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efficient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approach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addresses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these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challenges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enables </a:t>
            </a:r>
            <a:r>
              <a:rPr dirty="0" sz="1600">
                <a:latin typeface="Times New Roman"/>
                <a:cs typeface="Times New Roman"/>
              </a:rPr>
              <a:t>accurate,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scalable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object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recognition.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87069" y="1188466"/>
          <a:ext cx="8150859" cy="3309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5489"/>
                <a:gridCol w="2015489"/>
                <a:gridCol w="2015489"/>
                <a:gridCol w="2015489"/>
              </a:tblGrid>
              <a:tr h="265430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Author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2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Year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Method /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Technique</a:t>
                      </a:r>
                      <a:r>
                        <a:rPr dirty="0" sz="12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Used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Findings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Limitations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8100" marR="146050">
                        <a:lnSpc>
                          <a:spcPct val="102499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Bingnan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Wang,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Quan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Zheng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et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(2022)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885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Enhancement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Histogram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Equalization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Gaussian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Filtering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SIFT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HOG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Extraction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marR="12128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recognition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in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environments.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marR="16256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decreased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under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poor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lighting,</a:t>
                      </a:r>
                      <a:r>
                        <a:rPr dirty="0"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noisy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images,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complex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backgrounds.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8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Fanjiang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Xu</a:t>
                      </a:r>
                      <a:r>
                        <a:rPr dirty="0" sz="12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et al.</a:t>
                      </a:r>
                      <a:r>
                        <a:rPr dirty="0"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(2023)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704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Network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(CNN)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Contrast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Enhancement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Noise Reduction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marR="22479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recognition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traditional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methods.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66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marR="660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Required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large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labeled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computational resources.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66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Rodrigo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Fernandes</a:t>
                      </a:r>
                      <a:r>
                        <a:rPr dirty="0"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(2024)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2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8100" marR="474980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Attention-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2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Intelligence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CNN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marR="2254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extraction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recognition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partially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occluded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resolution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objects.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marR="17018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Increased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computational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performance.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Eng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Gee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</a:t>
                      </a:r>
                      <a:r>
                        <a:rPr dirty="0" sz="12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et al.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(2025)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25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Adaptive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Enhancement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Intelligent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Feature Selection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38735" marR="2222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recognition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across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lighting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conditions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variations.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marR="2044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mainly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benchmark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validation.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38580">
              <a:lnSpc>
                <a:spcPct val="100000"/>
              </a:lnSpc>
              <a:spcBef>
                <a:spcPts val="105"/>
              </a:spcBef>
            </a:pPr>
            <a:r>
              <a:rPr dirty="0" sz="3200" spc="-10"/>
              <a:t>LITERATURE</a:t>
            </a:r>
            <a:r>
              <a:rPr dirty="0" sz="3200" spc="-175"/>
              <a:t> </a:t>
            </a:r>
            <a:r>
              <a:rPr dirty="0" sz="3200" spc="-10"/>
              <a:t>REVIEW</a:t>
            </a:r>
            <a:endParaRPr sz="3200"/>
          </a:p>
        </p:txBody>
      </p:sp>
      <p:pic>
        <p:nvPicPr>
          <p:cNvPr id="4" name="object 4" descr="/home/claude/unpacked_orig/ppt/media/image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45719"/>
            <a:ext cx="755650" cy="777239"/>
          </a:xfrm>
          <a:prstGeom prst="rect">
            <a:avLst/>
          </a:prstGeom>
        </p:spPr>
      </p:pic>
      <p:pic>
        <p:nvPicPr>
          <p:cNvPr id="5" name="object 5" descr="/home/claude/unpacked_orig/ppt/media/image2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319" y="45719"/>
            <a:ext cx="777240" cy="7772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836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MODULE</a:t>
            </a:r>
            <a:r>
              <a:rPr dirty="0" sz="2200" spc="-30"/>
              <a:t> </a:t>
            </a:r>
            <a:r>
              <a:rPr dirty="0" sz="2200"/>
              <a:t>1:</a:t>
            </a:r>
            <a:r>
              <a:rPr dirty="0" sz="2200" spc="-15"/>
              <a:t> </a:t>
            </a:r>
            <a:r>
              <a:rPr dirty="0" sz="2200"/>
              <a:t>IMAGE</a:t>
            </a:r>
            <a:r>
              <a:rPr dirty="0" sz="2200" spc="-20"/>
              <a:t> </a:t>
            </a:r>
            <a:r>
              <a:rPr dirty="0" sz="2200" spc="-10"/>
              <a:t>ENHANCEMENT</a:t>
            </a:r>
            <a:r>
              <a:rPr dirty="0" sz="2200" spc="-145"/>
              <a:t> </a:t>
            </a:r>
            <a:r>
              <a:rPr dirty="0" sz="2200" spc="-25"/>
              <a:t>AND</a:t>
            </a:r>
            <a:endParaRPr sz="2200"/>
          </a:p>
          <a:p>
            <a:pPr algn="ctr" marL="2540">
              <a:lnSpc>
                <a:spcPct val="100000"/>
              </a:lnSpc>
              <a:spcBef>
                <a:spcPts val="5"/>
              </a:spcBef>
            </a:pPr>
            <a:r>
              <a:rPr dirty="0" sz="2200" spc="-10"/>
              <a:t>PREPROCESSING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90219" y="1348232"/>
            <a:ext cx="8143240" cy="2988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marR="26162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Noise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Reduction:</a:t>
            </a:r>
            <a:r>
              <a:rPr dirty="0" sz="1400" spc="-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Gaussian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median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filtering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remove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salt-</a:t>
            </a:r>
            <a:r>
              <a:rPr dirty="0" sz="1400">
                <a:latin typeface="Times New Roman"/>
                <a:cs typeface="Times New Roman"/>
              </a:rPr>
              <a:t>and-pepper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Gaussian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noise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from </a:t>
            </a:r>
            <a:r>
              <a:rPr dirty="0" sz="1400">
                <a:latin typeface="Times New Roman"/>
                <a:cs typeface="Times New Roman"/>
              </a:rPr>
              <a:t>input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images.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Contrast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Enhancement: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Histogram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Equalization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(HE)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CLAHE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contrast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out</a:t>
            </a:r>
            <a:endParaRPr sz="14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hidden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features.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Sharpening:</a:t>
            </a:r>
            <a:r>
              <a:rPr dirty="0" sz="1400" spc="-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Laplacian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unsharp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masking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enhance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edges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details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detection.</a:t>
            </a:r>
            <a:endParaRPr sz="1400">
              <a:latin typeface="Times New Roman"/>
              <a:cs typeface="Times New Roman"/>
            </a:endParaRPr>
          </a:p>
          <a:p>
            <a:pPr marL="354965" marR="419734" indent="-342900">
              <a:lnSpc>
                <a:spcPct val="100000"/>
              </a:lnSpc>
              <a:spcBef>
                <a:spcPts val="409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Color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Space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Conversion: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Convert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grayscale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HSV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consistent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across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lighting conditions.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Normalization: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Standardize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pixel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intensity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ranges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prepare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images 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consistent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extraction.</a:t>
            </a:r>
            <a:endParaRPr sz="1400">
              <a:latin typeface="Times New Roman"/>
              <a:cs typeface="Times New Roman"/>
            </a:endParaRPr>
          </a:p>
          <a:p>
            <a:pPr marL="354965" marR="414020" indent="-342900">
              <a:lnSpc>
                <a:spcPct val="100000"/>
              </a:lnSpc>
              <a:spcBef>
                <a:spcPts val="4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Outcome: Enhanced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clarity,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noise,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better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structural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details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ready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for </a:t>
            </a:r>
            <a:r>
              <a:rPr dirty="0" sz="1400">
                <a:latin typeface="Times New Roman"/>
                <a:cs typeface="Times New Roman"/>
              </a:rPr>
              <a:t>corner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detection.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4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Overview: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module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raw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quality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extraction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increase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accuracy.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/home/claude/unpacked_orig/ppt/media/image2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19" y="45719"/>
            <a:ext cx="777240" cy="7772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7433" rIns="0" bIns="0" rtlCol="0" vert="horz">
            <a:spAutoFit/>
          </a:bodyPr>
          <a:lstStyle/>
          <a:p>
            <a:pPr marL="1334770">
              <a:lnSpc>
                <a:spcPct val="100000"/>
              </a:lnSpc>
              <a:spcBef>
                <a:spcPts val="105"/>
              </a:spcBef>
            </a:pPr>
            <a:r>
              <a:rPr dirty="0" sz="3200" spc="-35"/>
              <a:t>IMPLEMENTATION</a:t>
            </a:r>
            <a:endParaRPr sz="3200"/>
          </a:p>
        </p:txBody>
      </p:sp>
      <p:pic>
        <p:nvPicPr>
          <p:cNvPr id="4" name="object 4" descr="/home/claude/unpacked_orig/ppt/media/image1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" y="45719"/>
            <a:ext cx="755650" cy="7772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74089"/>
            <a:ext cx="9143999" cy="3924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836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MODULE</a:t>
            </a:r>
            <a:r>
              <a:rPr dirty="0" sz="2200" spc="-45"/>
              <a:t> </a:t>
            </a:r>
            <a:r>
              <a:rPr dirty="0" sz="2200"/>
              <a:t>2:</a:t>
            </a:r>
            <a:r>
              <a:rPr dirty="0" sz="2200" spc="-45"/>
              <a:t> </a:t>
            </a:r>
            <a:r>
              <a:rPr dirty="0" sz="2200"/>
              <a:t>HARRIS</a:t>
            </a:r>
            <a:r>
              <a:rPr dirty="0" sz="2200" spc="-40"/>
              <a:t> </a:t>
            </a:r>
            <a:r>
              <a:rPr dirty="0" sz="2200" spc="-10"/>
              <a:t>CORNER-</a:t>
            </a:r>
            <a:r>
              <a:rPr dirty="0" sz="2200"/>
              <a:t>BASED</a:t>
            </a:r>
            <a:r>
              <a:rPr dirty="0" sz="2200" spc="-20"/>
              <a:t> </a:t>
            </a:r>
            <a:r>
              <a:rPr dirty="0" sz="2200" spc="-10"/>
              <a:t>FEATURE</a:t>
            </a:r>
            <a:endParaRPr sz="2200"/>
          </a:p>
          <a:p>
            <a:pPr algn="ctr" marL="1270">
              <a:lnSpc>
                <a:spcPct val="100000"/>
              </a:lnSpc>
              <a:spcBef>
                <a:spcPts val="5"/>
              </a:spcBef>
            </a:pPr>
            <a:r>
              <a:rPr dirty="0" sz="2200" spc="-10"/>
              <a:t>DETECTION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21640" y="1515871"/>
            <a:ext cx="8342630" cy="2966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431165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1400">
                <a:latin typeface="Times New Roman"/>
                <a:cs typeface="Times New Roman"/>
              </a:rPr>
              <a:t>Gradient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Computation: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gradients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Sobel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operators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measure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intensity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changes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X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directions.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Structure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Tensor: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Harris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matrix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(M)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products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gradients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window.</a:t>
            </a:r>
            <a:endParaRPr sz="1400">
              <a:latin typeface="Times New Roman"/>
              <a:cs typeface="Times New Roman"/>
            </a:endParaRPr>
          </a:p>
          <a:p>
            <a:pPr marL="355600" marR="466090" indent="-342900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1400">
                <a:latin typeface="Times New Roman"/>
                <a:cs typeface="Times New Roman"/>
              </a:rPr>
              <a:t>Corner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Function: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det(M)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k·trace²(M);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indicates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corners,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low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</a:t>
            </a:r>
            <a:r>
              <a:rPr dirty="0" sz="1400" spc="-10">
                <a:latin typeface="Times New Roman"/>
                <a:cs typeface="Times New Roman"/>
              </a:rPr>
              <a:t> indicates </a:t>
            </a:r>
            <a:r>
              <a:rPr dirty="0" sz="1400">
                <a:latin typeface="Times New Roman"/>
                <a:cs typeface="Times New Roman"/>
              </a:rPr>
              <a:t>flat/edge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regions.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9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Non-Maximum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Suppression: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Retain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maxima 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map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avoid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duplicate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detections.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 spc="-10">
                <a:latin typeface="Times New Roman"/>
                <a:cs typeface="Times New Roman"/>
              </a:rPr>
              <a:t>Thresholding:</a:t>
            </a:r>
            <a:r>
              <a:rPr dirty="0" sz="1400" spc="-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adaptive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threshold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select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strong,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reliable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corner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candidates.</a:t>
            </a:r>
            <a:endParaRPr sz="1400">
              <a:latin typeface="Times New Roman"/>
              <a:cs typeface="Times New Roman"/>
            </a:endParaRPr>
          </a:p>
          <a:p>
            <a:pPr marL="355600" marR="390525" indent="-342900">
              <a:lnSpc>
                <a:spcPct val="100000"/>
              </a:lnSpc>
              <a:spcBef>
                <a:spcPts val="40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1400" spc="-10">
                <a:latin typeface="Times New Roman"/>
                <a:cs typeface="Times New Roman"/>
              </a:rPr>
              <a:t>Outcome: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set 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robust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corner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keypoints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across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 anchor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points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SIFT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descriptor extraction.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400">
              <a:latin typeface="Times New Roman"/>
              <a:cs typeface="Times New Roman"/>
            </a:endParaRPr>
          </a:p>
          <a:p>
            <a:pPr marL="400685" marR="508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Overview: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Harris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Corner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identifies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stable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interest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points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invariant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rotation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illumination changes.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/home/claude/unpacked_orig/ppt/media/image2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19" y="45719"/>
            <a:ext cx="777240" cy="777239"/>
          </a:xfrm>
          <a:prstGeom prst="rect">
            <a:avLst/>
          </a:prstGeom>
        </p:spPr>
      </p:pic>
      <p:pic>
        <p:nvPicPr>
          <p:cNvPr id="3" name="object 3" descr="/home/claude/unpacked_orig/ppt/media/image1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" y="45719"/>
            <a:ext cx="755650" cy="77723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7433" rIns="0" bIns="0" rtlCol="0" vert="horz">
            <a:spAutoFit/>
          </a:bodyPr>
          <a:lstStyle/>
          <a:p>
            <a:pPr marL="1334770">
              <a:lnSpc>
                <a:spcPct val="100000"/>
              </a:lnSpc>
              <a:spcBef>
                <a:spcPts val="105"/>
              </a:spcBef>
            </a:pPr>
            <a:r>
              <a:rPr dirty="0" sz="3200" spc="-35"/>
              <a:t>IMPLEMENTATION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94689"/>
            <a:ext cx="9143999" cy="38837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836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MODULE</a:t>
            </a:r>
            <a:r>
              <a:rPr dirty="0" sz="2200" spc="-40"/>
              <a:t> </a:t>
            </a:r>
            <a:r>
              <a:rPr dirty="0" sz="2200"/>
              <a:t>3:</a:t>
            </a:r>
            <a:r>
              <a:rPr dirty="0" sz="2200" spc="-20"/>
              <a:t> </a:t>
            </a:r>
            <a:r>
              <a:rPr dirty="0" sz="2200"/>
              <a:t>SIFT</a:t>
            </a:r>
            <a:r>
              <a:rPr dirty="0" sz="2200" spc="-65"/>
              <a:t> </a:t>
            </a:r>
            <a:r>
              <a:rPr dirty="0" sz="2200" spc="-20"/>
              <a:t>FEATURE</a:t>
            </a:r>
            <a:r>
              <a:rPr dirty="0" sz="2200" spc="-15"/>
              <a:t> </a:t>
            </a:r>
            <a:r>
              <a:rPr dirty="0" sz="2200" spc="-10"/>
              <a:t>EXTRACTION</a:t>
            </a:r>
            <a:r>
              <a:rPr dirty="0" sz="2200" spc="-130"/>
              <a:t> </a:t>
            </a:r>
            <a:r>
              <a:rPr dirty="0" sz="2200" spc="-25"/>
              <a:t>AND</a:t>
            </a:r>
            <a:endParaRPr sz="2200"/>
          </a:p>
          <a:p>
            <a:pPr algn="ctr" marL="3810">
              <a:lnSpc>
                <a:spcPct val="100000"/>
              </a:lnSpc>
              <a:spcBef>
                <a:spcPts val="5"/>
              </a:spcBef>
            </a:pPr>
            <a:r>
              <a:rPr dirty="0" sz="2200" spc="-10"/>
              <a:t>MATCHING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21640" y="1325371"/>
            <a:ext cx="8082280" cy="3269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461009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1400" spc="-10">
                <a:latin typeface="Times New Roman"/>
                <a:cs typeface="Times New Roman"/>
              </a:rPr>
              <a:t>Scale-</a:t>
            </a:r>
            <a:r>
              <a:rPr dirty="0" sz="1400">
                <a:latin typeface="Times New Roman"/>
                <a:cs typeface="Times New Roman"/>
              </a:rPr>
              <a:t>Space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Extrema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Detection: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Build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Difference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Gaussian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(DoG)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pyramid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keypoints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at </a:t>
            </a:r>
            <a:r>
              <a:rPr dirty="0" sz="1400">
                <a:latin typeface="Times New Roman"/>
                <a:cs typeface="Times New Roman"/>
              </a:rPr>
              <a:t>multiple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scales.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Keypoint</a:t>
            </a:r>
            <a:r>
              <a:rPr dirty="0" sz="1400" spc="-10">
                <a:latin typeface="Times New Roman"/>
                <a:cs typeface="Times New Roman"/>
              </a:rPr>
              <a:t> Localization: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Refine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keypoint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positions </a:t>
            </a:r>
            <a:r>
              <a:rPr dirty="0" sz="1400" spc="-10">
                <a:latin typeface="Times New Roman"/>
                <a:cs typeface="Times New Roman"/>
              </a:rPr>
              <a:t>using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Taylor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expansion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remove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low-contrast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edge</a:t>
            </a:r>
            <a:endParaRPr sz="1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1400" spc="-10">
                <a:latin typeface="Times New Roman"/>
                <a:cs typeface="Times New Roman"/>
              </a:rPr>
              <a:t>responses.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 spc="-10">
                <a:latin typeface="Times New Roman"/>
                <a:cs typeface="Times New Roman"/>
              </a:rPr>
              <a:t>Orientation</a:t>
            </a:r>
            <a:r>
              <a:rPr dirty="0" sz="1400" spc="-114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Assignment:</a:t>
            </a:r>
            <a:r>
              <a:rPr dirty="0" sz="1400" spc="-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Assign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dominant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gradient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orientation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each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keypoint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rotation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invariance.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9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Descriptor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Generation: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Create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128-</a:t>
            </a:r>
            <a:r>
              <a:rPr dirty="0" sz="1400" spc="-10">
                <a:latin typeface="Times New Roman"/>
                <a:cs typeface="Times New Roman"/>
              </a:rPr>
              <a:t>dimensional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gradient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histogram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descriptor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around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each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keypoint.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Matching: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FLANN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BFMatcher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Lowe's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ratio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reliable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correspondences</a:t>
            </a:r>
            <a:endParaRPr sz="1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between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images.</a:t>
            </a:r>
            <a:endParaRPr sz="1400">
              <a:latin typeface="Times New Roman"/>
              <a:cs typeface="Times New Roman"/>
            </a:endParaRPr>
          </a:p>
          <a:p>
            <a:pPr marL="355600" marR="77470" indent="-342900">
              <a:lnSpc>
                <a:spcPct val="100000"/>
              </a:lnSpc>
              <a:spcBef>
                <a:spcPts val="40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1400">
                <a:latin typeface="Times New Roman"/>
                <a:cs typeface="Times New Roman"/>
              </a:rPr>
              <a:t>Outcome: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rotation-invariant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descriptors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enable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robust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object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matching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across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different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views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conditions.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1400">
              <a:latin typeface="Times New Roman"/>
              <a:cs typeface="Times New Roman"/>
            </a:endParaRPr>
          </a:p>
          <a:p>
            <a:pPr marL="80645" marR="387350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Overview: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SIFT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generates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distinctive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128-</a:t>
            </a:r>
            <a:r>
              <a:rPr dirty="0" sz="1600">
                <a:latin typeface="Times New Roman"/>
                <a:cs typeface="Times New Roman"/>
              </a:rPr>
              <a:t>dimensional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descriptors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invariant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scale, </a:t>
            </a:r>
            <a:r>
              <a:rPr dirty="0" sz="1600">
                <a:latin typeface="Times New Roman"/>
                <a:cs typeface="Times New Roman"/>
              </a:rPr>
              <a:t>rotation,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illumination.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7433" rIns="0" bIns="0" rtlCol="0" vert="horz">
            <a:spAutoFit/>
          </a:bodyPr>
          <a:lstStyle/>
          <a:p>
            <a:pPr marL="1334770">
              <a:lnSpc>
                <a:spcPct val="100000"/>
              </a:lnSpc>
              <a:spcBef>
                <a:spcPts val="105"/>
              </a:spcBef>
            </a:pPr>
            <a:r>
              <a:rPr dirty="0" sz="3200" spc="-35"/>
              <a:t>IMPLEMENTATION</a:t>
            </a:r>
            <a:endParaRPr sz="3200"/>
          </a:p>
        </p:txBody>
      </p:sp>
      <p:pic>
        <p:nvPicPr>
          <p:cNvPr id="3" name="object 3" descr="/home/claude/unpacked_orig/ppt/media/image2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19" y="45719"/>
            <a:ext cx="777240" cy="777239"/>
          </a:xfrm>
          <a:prstGeom prst="rect">
            <a:avLst/>
          </a:prstGeom>
        </p:spPr>
      </p:pic>
      <p:pic>
        <p:nvPicPr>
          <p:cNvPr id="4" name="object 4" descr="/home/claude/unpacked_orig/ppt/media/image1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" y="45719"/>
            <a:ext cx="755650" cy="7772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1040" y="1078864"/>
            <a:ext cx="7162800" cy="3930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836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MODULE</a:t>
            </a:r>
            <a:r>
              <a:rPr dirty="0" sz="2200" spc="-30"/>
              <a:t> </a:t>
            </a:r>
            <a:r>
              <a:rPr dirty="0" sz="2200"/>
              <a:t>4:</a:t>
            </a:r>
            <a:r>
              <a:rPr dirty="0" sz="2200" spc="-15"/>
              <a:t> </a:t>
            </a:r>
            <a:r>
              <a:rPr dirty="0" sz="2200" spc="-20"/>
              <a:t>PCA</a:t>
            </a:r>
            <a:r>
              <a:rPr dirty="0" sz="2200" spc="-120"/>
              <a:t> </a:t>
            </a:r>
            <a:r>
              <a:rPr dirty="0" sz="2200" spc="-25"/>
              <a:t>OPTIMIZATION</a:t>
            </a:r>
            <a:r>
              <a:rPr dirty="0" sz="2200" spc="-105"/>
              <a:t> </a:t>
            </a:r>
            <a:r>
              <a:rPr dirty="0" sz="2200"/>
              <a:t>AND</a:t>
            </a:r>
            <a:r>
              <a:rPr dirty="0" sz="2200" spc="-15"/>
              <a:t> </a:t>
            </a:r>
            <a:r>
              <a:rPr dirty="0" sz="2200" spc="-10"/>
              <a:t>OBJECT</a:t>
            </a:r>
            <a:endParaRPr sz="2200"/>
          </a:p>
          <a:p>
            <a:pPr algn="ctr" marL="2540">
              <a:lnSpc>
                <a:spcPct val="100000"/>
              </a:lnSpc>
              <a:spcBef>
                <a:spcPts val="5"/>
              </a:spcBef>
            </a:pPr>
            <a:r>
              <a:rPr dirty="0" sz="2200" spc="-10"/>
              <a:t>RECOGNITION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90219" y="1226312"/>
            <a:ext cx="8259445" cy="36125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marR="39116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Aggregation: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Collect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stack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SIFT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descriptors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training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high-dimensional </a:t>
            </a: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matrix.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Mean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Subtraction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 Covariance: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covariance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matrix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capture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variance</a:t>
            </a:r>
            <a:endParaRPr sz="14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dirty="0" sz="1400" spc="-10">
                <a:latin typeface="Times New Roman"/>
                <a:cs typeface="Times New Roman"/>
              </a:rPr>
              <a:t>structure.</a:t>
            </a:r>
            <a:endParaRPr sz="1400">
              <a:latin typeface="Times New Roman"/>
              <a:cs typeface="Times New Roman"/>
            </a:endParaRPr>
          </a:p>
          <a:p>
            <a:pPr marL="354965" marR="495934" indent="-342900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Eigendecomposition: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eigenvalues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eigenvectors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principal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components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maximum variance.</a:t>
            </a:r>
            <a:endParaRPr sz="1400">
              <a:latin typeface="Times New Roman"/>
              <a:cs typeface="Times New Roman"/>
            </a:endParaRPr>
          </a:p>
          <a:p>
            <a:pPr marL="354965" marR="674370" indent="-342900">
              <a:lnSpc>
                <a:spcPct val="100000"/>
              </a:lnSpc>
              <a:spcBef>
                <a:spcPts val="409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Dimensionality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Reduction: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features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top-</a:t>
            </a:r>
            <a:r>
              <a:rPr dirty="0" sz="1400">
                <a:latin typeface="Times New Roman"/>
                <a:cs typeface="Times New Roman"/>
              </a:rPr>
              <a:t>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eigenvectors,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retaining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~95%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explained variance.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>
                <a:latin typeface="Times New Roman"/>
                <a:cs typeface="Times New Roman"/>
              </a:rPr>
              <a:t>Object Classification: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features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classifiers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(SVM,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KNN,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Neural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Network)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object</a:t>
            </a:r>
            <a:endParaRPr sz="14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latin typeface="Times New Roman"/>
                <a:cs typeface="Times New Roman"/>
              </a:rPr>
              <a:t>recognition.</a:t>
            </a:r>
            <a:endParaRPr sz="1400">
              <a:latin typeface="Times New Roman"/>
              <a:cs typeface="Times New Roman"/>
            </a:endParaRPr>
          </a:p>
          <a:p>
            <a:pPr marL="354965" marR="500380" indent="-342900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400" spc="-10">
                <a:latin typeface="Times New Roman"/>
                <a:cs typeface="Times New Roman"/>
              </a:rPr>
              <a:t>Outcome: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fast,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memory-</a:t>
            </a:r>
            <a:r>
              <a:rPr dirty="0" sz="1400">
                <a:latin typeface="Times New Roman"/>
                <a:cs typeface="Times New Roman"/>
              </a:rPr>
              <a:t>efficient recognition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 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accurately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classifies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objects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optimized </a:t>
            </a: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representations.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400">
              <a:latin typeface="Times New Roman"/>
              <a:cs typeface="Times New Roman"/>
            </a:endParaRPr>
          </a:p>
          <a:p>
            <a:pPr marL="141605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Overview:</a:t>
            </a:r>
            <a:r>
              <a:rPr dirty="0" sz="1600" spc="-85" b="1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PCA</a:t>
            </a:r>
            <a:r>
              <a:rPr dirty="0" sz="1600" spc="-1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reduces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dimensionality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SIFT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feature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vectors,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improving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classification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speed</a:t>
            </a:r>
            <a:endParaRPr sz="1600">
              <a:latin typeface="Times New Roman"/>
              <a:cs typeface="Times New Roman"/>
            </a:endParaRPr>
          </a:p>
          <a:p>
            <a:pPr marL="141605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accuracy.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7433" rIns="0" bIns="0" rtlCol="0" vert="horz">
            <a:spAutoFit/>
          </a:bodyPr>
          <a:lstStyle/>
          <a:p>
            <a:pPr marL="1334770">
              <a:lnSpc>
                <a:spcPct val="100000"/>
              </a:lnSpc>
              <a:spcBef>
                <a:spcPts val="105"/>
              </a:spcBef>
            </a:pPr>
            <a:r>
              <a:rPr dirty="0" sz="3200" spc="-35"/>
              <a:t>IMPLEMENTATION</a:t>
            </a:r>
            <a:endParaRPr sz="3200"/>
          </a:p>
        </p:txBody>
      </p:sp>
      <p:pic>
        <p:nvPicPr>
          <p:cNvPr id="3" name="object 3" descr="/home/claude/unpacked_orig/ppt/media/image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45719"/>
            <a:ext cx="755650" cy="777239"/>
          </a:xfrm>
          <a:prstGeom prst="rect">
            <a:avLst/>
          </a:prstGeom>
        </p:spPr>
      </p:pic>
      <p:pic>
        <p:nvPicPr>
          <p:cNvPr id="4" name="object 4" descr="/home/claude/unpacked_orig/ppt/media/image2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319" y="45719"/>
            <a:ext cx="777240" cy="7772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119212"/>
            <a:ext cx="8900159" cy="37918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/home/claude/unpacked_orig/ppt/media/image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45719"/>
            <a:ext cx="755650" cy="777239"/>
          </a:xfrm>
          <a:prstGeom prst="rect">
            <a:avLst/>
          </a:prstGeom>
        </p:spPr>
      </p:pic>
      <p:pic>
        <p:nvPicPr>
          <p:cNvPr id="3" name="object 3" descr="/home/claude/unpacked_orig/ppt/media/image2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319" y="45719"/>
            <a:ext cx="777240" cy="77723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2267" rIns="0" bIns="0" rtlCol="0" vert="horz">
            <a:spAutoFit/>
          </a:bodyPr>
          <a:lstStyle/>
          <a:p>
            <a:pPr marL="998219">
              <a:lnSpc>
                <a:spcPct val="100000"/>
              </a:lnSpc>
              <a:spcBef>
                <a:spcPts val="95"/>
              </a:spcBef>
            </a:pPr>
            <a:r>
              <a:rPr dirty="0" sz="2800" spc="-20"/>
              <a:t>SYSTEM</a:t>
            </a:r>
            <a:r>
              <a:rPr dirty="0" sz="2800" spc="-140"/>
              <a:t> </a:t>
            </a:r>
            <a:r>
              <a:rPr dirty="0" sz="2800" spc="-10"/>
              <a:t>ARCHITECTURE</a:t>
            </a:r>
            <a:endParaRPr sz="28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114" y="1027391"/>
            <a:ext cx="7586218" cy="33783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454" rIns="0" bIns="0" rtlCol="0" vert="horz">
            <a:spAutoFit/>
          </a:bodyPr>
          <a:lstStyle/>
          <a:p>
            <a:pPr marL="1429385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105"/>
              <a:t> </a:t>
            </a:r>
            <a:r>
              <a:rPr dirty="0" spc="-1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5642" y="901953"/>
            <a:ext cx="7501255" cy="3867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Develop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recognize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objects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accurately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real-time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video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streams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minimal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processing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delay.</a:t>
            </a:r>
            <a:endParaRPr sz="1800">
              <a:latin typeface="Times New Roman"/>
              <a:cs typeface="Times New Roman"/>
            </a:endParaRPr>
          </a:p>
          <a:p>
            <a:pPr marL="299085" marR="104775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Integrate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advanced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deep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recognition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accuracy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for </a:t>
            </a:r>
            <a:r>
              <a:rPr dirty="0" sz="1800">
                <a:latin typeface="Times New Roman"/>
                <a:cs typeface="Times New Roman"/>
              </a:rPr>
              <a:t>complex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overlapping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objects.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Enhance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enhancement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techniques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perform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effectively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extreme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lighting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weather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conditions.</a:t>
            </a:r>
            <a:endParaRPr sz="1800">
              <a:latin typeface="Times New Roman"/>
              <a:cs typeface="Times New Roman"/>
            </a:endParaRPr>
          </a:p>
          <a:p>
            <a:pPr marL="299085" marR="68580" indent="-28702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Develop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recognize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objects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accurately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real-time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video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streams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minimal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delay.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z="1800">
                <a:latin typeface="Times New Roman"/>
                <a:cs typeface="Times New Roman"/>
              </a:rPr>
              <a:t>Integrate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advanced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deep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recognition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accuracy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for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complex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overlapping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objects.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  <a:tab pos="354965" algn="l"/>
              </a:tabLst>
            </a:pPr>
            <a:r>
              <a:rPr dirty="0" sz="1800">
                <a:latin typeface="Times New Roman"/>
                <a:cs typeface="Times New Roman"/>
              </a:rPr>
              <a:t>	Enhance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enhancement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techniques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perform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effectively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extreme </a:t>
            </a:r>
            <a:r>
              <a:rPr dirty="0" sz="1800">
                <a:latin typeface="Times New Roman"/>
                <a:cs typeface="Times New Roman"/>
              </a:rPr>
              <a:t>lighting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weather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conditions.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Combine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cloud-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analytics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enable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scalable</a:t>
            </a:r>
            <a:r>
              <a:rPr dirty="0" sz="1800" spc="-25">
                <a:latin typeface="Times New Roman"/>
                <a:cs typeface="Times New Roman"/>
              </a:rPr>
              <a:t> and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intelligent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object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recognition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services.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 descr="/home/claude/unpacked_orig/ppt/media/image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45719"/>
            <a:ext cx="755650" cy="777239"/>
          </a:xfrm>
          <a:prstGeom prst="rect">
            <a:avLst/>
          </a:prstGeom>
        </p:spPr>
      </p:pic>
      <p:pic>
        <p:nvPicPr>
          <p:cNvPr id="5" name="object 5" descr="/home/claude/unpacked_orig/ppt/media/image2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319" y="45719"/>
            <a:ext cx="777240" cy="7772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533" rIns="0" bIns="0" rtlCol="0" vert="horz">
            <a:spAutoFit/>
          </a:bodyPr>
          <a:lstStyle/>
          <a:p>
            <a:pPr marL="1832610">
              <a:lnSpc>
                <a:spcPct val="100000"/>
              </a:lnSpc>
              <a:spcBef>
                <a:spcPts val="105"/>
              </a:spcBef>
            </a:pPr>
            <a:r>
              <a:rPr dirty="0" sz="3200" spc="-10"/>
              <a:t>CONCLUSION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0219" y="1360373"/>
            <a:ext cx="8177530" cy="2937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7815" marR="5080" indent="-28575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This</a:t>
            </a:r>
            <a:r>
              <a:rPr dirty="0" sz="1600" spc="1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project</a:t>
            </a:r>
            <a:r>
              <a:rPr dirty="0" sz="1600" spc="1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presents</a:t>
            </a:r>
            <a:r>
              <a:rPr dirty="0" sz="1600" spc="1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1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robust</a:t>
            </a:r>
            <a:r>
              <a:rPr dirty="0" sz="1600" spc="1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pipeline</a:t>
            </a:r>
            <a:r>
              <a:rPr dirty="0" sz="1600" spc="1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1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Smart</a:t>
            </a:r>
            <a:r>
              <a:rPr dirty="0" sz="1600" spc="1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Object</a:t>
            </a:r>
            <a:r>
              <a:rPr dirty="0" sz="1600" spc="1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Recognition</a:t>
            </a:r>
            <a:r>
              <a:rPr dirty="0" sz="1600" spc="1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1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integrating</a:t>
            </a:r>
            <a:r>
              <a:rPr dirty="0" sz="1600" spc="1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four</a:t>
            </a:r>
            <a:r>
              <a:rPr dirty="0" sz="1600" spc="17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key </a:t>
            </a:r>
            <a:r>
              <a:rPr dirty="0" sz="1600" spc="-25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modules:</a:t>
            </a:r>
            <a:r>
              <a:rPr dirty="0" sz="1600" spc="2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Image</a:t>
            </a:r>
            <a:r>
              <a:rPr dirty="0" sz="1600" spc="2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Enhancement,</a:t>
            </a:r>
            <a:r>
              <a:rPr dirty="0" sz="1600" spc="2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Harris</a:t>
            </a:r>
            <a:r>
              <a:rPr dirty="0" sz="1600" spc="2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Corner</a:t>
            </a:r>
            <a:r>
              <a:rPr dirty="0" sz="1600" spc="2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Detection,</a:t>
            </a:r>
            <a:r>
              <a:rPr dirty="0" sz="1600" spc="2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SIFT</a:t>
            </a:r>
            <a:r>
              <a:rPr dirty="0" sz="1600" spc="2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Feature</a:t>
            </a:r>
            <a:r>
              <a:rPr dirty="0" sz="1600" spc="2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Extraction,</a:t>
            </a:r>
            <a:r>
              <a:rPr dirty="0" sz="1600" spc="2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28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PCA </a:t>
            </a:r>
            <a:r>
              <a:rPr dirty="0" sz="1600" spc="-25">
                <a:latin typeface="Times New Roman"/>
                <a:cs typeface="Times New Roman"/>
              </a:rPr>
              <a:t>	</a:t>
            </a:r>
            <a:r>
              <a:rPr dirty="0" sz="1600" spc="-10">
                <a:latin typeface="Times New Roman"/>
                <a:cs typeface="Times New Roman"/>
              </a:rPr>
              <a:t>Optimization.</a:t>
            </a:r>
            <a:endParaRPr sz="1600">
              <a:latin typeface="Times New Roman"/>
              <a:cs typeface="Times New Roman"/>
            </a:endParaRPr>
          </a:p>
          <a:p>
            <a:pPr algn="just" marL="297815" marR="5080" indent="-285750">
              <a:lnSpc>
                <a:spcPct val="100000"/>
              </a:lnSpc>
              <a:spcBef>
                <a:spcPts val="60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3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Image</a:t>
            </a:r>
            <a:r>
              <a:rPr dirty="0" sz="1600" spc="3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Enhancement</a:t>
            </a:r>
            <a:r>
              <a:rPr dirty="0" sz="1600" spc="3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module</a:t>
            </a:r>
            <a:r>
              <a:rPr dirty="0" sz="1600" spc="3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ensures</a:t>
            </a:r>
            <a:r>
              <a:rPr dirty="0" sz="1600" spc="3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high-</a:t>
            </a:r>
            <a:r>
              <a:rPr dirty="0" sz="1600">
                <a:latin typeface="Times New Roman"/>
                <a:cs typeface="Times New Roman"/>
              </a:rPr>
              <a:t>quality</a:t>
            </a:r>
            <a:r>
              <a:rPr dirty="0" sz="1600" spc="3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input</a:t>
            </a:r>
            <a:r>
              <a:rPr dirty="0" sz="1600" spc="3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data;</a:t>
            </a:r>
            <a:r>
              <a:rPr dirty="0" sz="1600" spc="3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Harris</a:t>
            </a:r>
            <a:r>
              <a:rPr dirty="0" sz="1600" spc="3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Corner</a:t>
            </a:r>
            <a:r>
              <a:rPr dirty="0" sz="1600" spc="3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Detection </a:t>
            </a:r>
            <a:r>
              <a:rPr dirty="0" sz="1600" spc="-10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identifies</a:t>
            </a:r>
            <a:r>
              <a:rPr dirty="0" sz="1600" spc="4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stable</a:t>
            </a:r>
            <a:r>
              <a:rPr dirty="0" sz="1600" spc="4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structural</a:t>
            </a:r>
            <a:r>
              <a:rPr dirty="0" sz="1600" spc="4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keypoints;</a:t>
            </a:r>
            <a:r>
              <a:rPr dirty="0" sz="1600" spc="4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SIFT</a:t>
            </a:r>
            <a:r>
              <a:rPr dirty="0" sz="1600" spc="4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provides</a:t>
            </a:r>
            <a:r>
              <a:rPr dirty="0" sz="1600" spc="4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rich,</a:t>
            </a:r>
            <a:r>
              <a:rPr dirty="0" sz="1600" spc="4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invariant</a:t>
            </a:r>
            <a:r>
              <a:rPr dirty="0" sz="1600" spc="4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descriptors;</a:t>
            </a:r>
            <a:r>
              <a:rPr dirty="0" sz="1600" spc="4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7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PCA </a:t>
            </a:r>
            <a:r>
              <a:rPr dirty="0" sz="1600" spc="-25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reduces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dimensionality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efficient,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accurate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classification.</a:t>
            </a:r>
            <a:endParaRPr sz="1600">
              <a:latin typeface="Times New Roman"/>
              <a:cs typeface="Times New Roman"/>
            </a:endParaRPr>
          </a:p>
          <a:p>
            <a:pPr algn="just" marL="297815" marR="17145" indent="-28575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integrated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effectively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addresses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challenges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noise,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scale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variation,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illumination </a:t>
            </a:r>
            <a:r>
              <a:rPr dirty="0" sz="1600" spc="-10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changes, and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high-</a:t>
            </a:r>
            <a:r>
              <a:rPr dirty="0" sz="1600">
                <a:latin typeface="Times New Roman"/>
                <a:cs typeface="Times New Roman"/>
              </a:rPr>
              <a:t>dimensional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feature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spaces,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achieving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reliable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object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recognition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suitable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for </a:t>
            </a:r>
            <a:r>
              <a:rPr dirty="0" sz="1600" spc="-25">
                <a:latin typeface="Times New Roman"/>
                <a:cs typeface="Times New Roman"/>
              </a:rPr>
              <a:t>	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applications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surveillance,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robotics,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medical</a:t>
            </a:r>
            <a:r>
              <a:rPr dirty="0" sz="1600" spc="-10">
                <a:latin typeface="Times New Roman"/>
                <a:cs typeface="Times New Roman"/>
              </a:rPr>
              <a:t> imaging.</a:t>
            </a:r>
            <a:endParaRPr sz="1600">
              <a:latin typeface="Times New Roman"/>
              <a:cs typeface="Times New Roman"/>
            </a:endParaRPr>
          </a:p>
          <a:p>
            <a:pPr algn="just" marL="297815" marR="16510" indent="-285750">
              <a:lnSpc>
                <a:spcPct val="100000"/>
              </a:lnSpc>
              <a:spcBef>
                <a:spcPts val="60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600">
                <a:latin typeface="Times New Roman"/>
                <a:cs typeface="Times New Roman"/>
              </a:rPr>
              <a:t>Future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work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includes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extending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pipeline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deep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learning-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229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feature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extractors</a:t>
            </a:r>
            <a:r>
              <a:rPr dirty="0" sz="1600" spc="229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 spc="-25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testing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larger,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more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diverse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datasets.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54353"/>
            <a:ext cx="8060690" cy="3592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 spc="-10">
                <a:latin typeface="Times New Roman"/>
                <a:cs typeface="Times New Roman"/>
              </a:rPr>
              <a:t>Trigka,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M.,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Dritsas,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E.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(2025).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Comprehensive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Survey</a:t>
            </a:r>
            <a:r>
              <a:rPr dirty="0" sz="1800" spc="-2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of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Machine</a:t>
            </a:r>
            <a:r>
              <a:rPr dirty="0" sz="1800" spc="-2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Learning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 spc="-20" i="1">
                <a:latin typeface="Times New Roman"/>
                <a:cs typeface="Times New Roman"/>
              </a:rPr>
              <a:t>Techniques</a:t>
            </a:r>
            <a:r>
              <a:rPr dirty="0" sz="1800" spc="-2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and</a:t>
            </a:r>
            <a:r>
              <a:rPr dirty="0" sz="1800" spc="-1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Models</a:t>
            </a:r>
            <a:r>
              <a:rPr dirty="0" sz="1800" spc="-2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for</a:t>
            </a:r>
            <a:r>
              <a:rPr dirty="0" sz="1800" spc="-2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Object</a:t>
            </a:r>
            <a:r>
              <a:rPr dirty="0" sz="1800" spc="-1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Detection</a:t>
            </a:r>
            <a:r>
              <a:rPr dirty="0" sz="1800">
                <a:latin typeface="Times New Roman"/>
                <a:cs typeface="Times New Roman"/>
              </a:rPr>
              <a:t>.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Sensors,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25(1),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214.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Jamali,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M.,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Davidsson,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P.,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Khoshkangini,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R.,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Mihailescu,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R.-C.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(2025).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Context</a:t>
            </a:r>
            <a:r>
              <a:rPr dirty="0" sz="1800" spc="-40" i="1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in </a:t>
            </a:r>
            <a:r>
              <a:rPr dirty="0" sz="1800" i="1">
                <a:latin typeface="Times New Roman"/>
                <a:cs typeface="Times New Roman"/>
              </a:rPr>
              <a:t>Object</a:t>
            </a:r>
            <a:r>
              <a:rPr dirty="0" sz="1800" spc="-10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Detection:</a:t>
            </a:r>
            <a:r>
              <a:rPr dirty="0" sz="1800" spc="-8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</a:t>
            </a:r>
            <a:r>
              <a:rPr dirty="0" sz="1800" spc="-8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Systematic</a:t>
            </a:r>
            <a:r>
              <a:rPr dirty="0" sz="1800" spc="-6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Literature</a:t>
            </a:r>
            <a:r>
              <a:rPr dirty="0" sz="1800" spc="-4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Review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r>
              <a:rPr dirty="0" sz="1800" spc="-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Artificial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Intelligence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Review,</a:t>
            </a:r>
            <a:r>
              <a:rPr dirty="0" sz="1800" spc="5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58,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175.</a:t>
            </a:r>
            <a:endParaRPr sz="1800">
              <a:latin typeface="Times New Roman"/>
              <a:cs typeface="Times New Roman"/>
            </a:endParaRPr>
          </a:p>
          <a:p>
            <a:pPr marL="299085" marR="1486535" indent="-28702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 i="1">
                <a:latin typeface="Times New Roman"/>
                <a:cs typeface="Times New Roman"/>
              </a:rPr>
              <a:t>Development</a:t>
            </a:r>
            <a:r>
              <a:rPr dirty="0" sz="1800" spc="-4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and</a:t>
            </a:r>
            <a:r>
              <a:rPr dirty="0" sz="1800" spc="-2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Challenges</a:t>
            </a:r>
            <a:r>
              <a:rPr dirty="0" sz="1800" spc="-4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of</a:t>
            </a:r>
            <a:r>
              <a:rPr dirty="0" sz="1800" spc="-2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Object</a:t>
            </a:r>
            <a:r>
              <a:rPr dirty="0" sz="1800" spc="-20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Detection:</a:t>
            </a:r>
            <a:r>
              <a:rPr dirty="0" sz="1800" spc="-7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Survey</a:t>
            </a:r>
            <a:r>
              <a:rPr dirty="0" sz="1800">
                <a:latin typeface="Times New Roman"/>
                <a:cs typeface="Times New Roman"/>
              </a:rPr>
              <a:t>.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(2024). </a:t>
            </a:r>
            <a:r>
              <a:rPr dirty="0" sz="1800">
                <a:latin typeface="Times New Roman"/>
                <a:cs typeface="Times New Roman"/>
              </a:rPr>
              <a:t>Neurocomputing,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598,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128102.</a:t>
            </a:r>
            <a:endParaRPr sz="1800">
              <a:latin typeface="Times New Roman"/>
              <a:cs typeface="Times New Roman"/>
            </a:endParaRPr>
          </a:p>
          <a:p>
            <a:pPr marL="299085" marR="192405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Singh,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S.,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Kumari,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R.,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Pallavi,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P.,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Saurabh,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95">
                <a:latin typeface="Times New Roman"/>
                <a:cs typeface="Times New Roman"/>
              </a:rPr>
              <a:t>P.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(2026).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</a:t>
            </a:r>
            <a:r>
              <a:rPr dirty="0" sz="1800" spc="-6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Systematic</a:t>
            </a:r>
            <a:r>
              <a:rPr dirty="0" sz="1800" spc="-4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Review</a:t>
            </a:r>
            <a:r>
              <a:rPr dirty="0" sz="1800" spc="-45" i="1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of </a:t>
            </a:r>
            <a:r>
              <a:rPr dirty="0" sz="1800" i="1">
                <a:latin typeface="Times New Roman"/>
                <a:cs typeface="Times New Roman"/>
              </a:rPr>
              <a:t>Deep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Learning</a:t>
            </a:r>
            <a:r>
              <a:rPr dirty="0" sz="1800" spc="-2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Methods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for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Low-</a:t>
            </a:r>
            <a:r>
              <a:rPr dirty="0" sz="1800" i="1">
                <a:latin typeface="Times New Roman"/>
                <a:cs typeface="Times New Roman"/>
              </a:rPr>
              <a:t>Light</a:t>
            </a:r>
            <a:r>
              <a:rPr dirty="0" sz="1800" spc="-2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Image</a:t>
            </a:r>
            <a:r>
              <a:rPr dirty="0" sz="1800" spc="-2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Enhancement</a:t>
            </a:r>
            <a:r>
              <a:rPr dirty="0" sz="1800" spc="-2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and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Object</a:t>
            </a:r>
            <a:r>
              <a:rPr dirty="0" sz="1800" spc="-2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Detection</a:t>
            </a:r>
            <a:r>
              <a:rPr dirty="0" sz="1800" spc="-10">
                <a:latin typeface="Times New Roman"/>
                <a:cs typeface="Times New Roman"/>
              </a:rPr>
              <a:t>. Discover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Applied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Sciences,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8,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241.</a:t>
            </a:r>
            <a:endParaRPr sz="1800">
              <a:latin typeface="Times New Roman"/>
              <a:cs typeface="Times New Roman"/>
            </a:endParaRPr>
          </a:p>
          <a:p>
            <a:pPr marL="299085" marR="31115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These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references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publications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2024–2026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suitable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2023–</a:t>
            </a:r>
            <a:r>
              <a:rPr dirty="0" sz="1800">
                <a:latin typeface="Times New Roman"/>
                <a:cs typeface="Times New Roman"/>
              </a:rPr>
              <a:t>2026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literature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window),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making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them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appropriate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seminar,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mini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or </a:t>
            </a:r>
            <a:r>
              <a:rPr dirty="0" sz="1800">
                <a:latin typeface="Times New Roman"/>
                <a:cs typeface="Times New Roman"/>
              </a:rPr>
              <a:t>research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paper.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187" rIns="0" bIns="0" rtlCol="0" vert="horz">
            <a:spAutoFit/>
          </a:bodyPr>
          <a:lstStyle/>
          <a:p>
            <a:pPr marL="14986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pic>
        <p:nvPicPr>
          <p:cNvPr id="4" name="object 4" descr="/home/claude/unpacked_orig/ppt/media/image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45719"/>
            <a:ext cx="755650" cy="777239"/>
          </a:xfrm>
          <a:prstGeom prst="rect">
            <a:avLst/>
          </a:prstGeom>
        </p:spPr>
      </p:pic>
      <p:pic>
        <p:nvPicPr>
          <p:cNvPr id="5" name="object 5" descr="/home/claude/unpacked_orig/ppt/media/image2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319" y="45719"/>
            <a:ext cx="777240" cy="7772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/home/claude/unpacked_orig/ppt/media/image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45719"/>
            <a:ext cx="755650" cy="777239"/>
          </a:xfrm>
          <a:prstGeom prst="rect">
            <a:avLst/>
          </a:prstGeom>
        </p:spPr>
      </p:pic>
      <p:pic>
        <p:nvPicPr>
          <p:cNvPr id="3" name="object 3" descr="/home/claude/unpacked_orig/ppt/media/image2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319" y="45719"/>
            <a:ext cx="777240" cy="77723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03373" y="1475054"/>
            <a:ext cx="3938904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>
                <a:latin typeface="Arial"/>
                <a:cs typeface="Arial"/>
              </a:rPr>
              <a:t>THANK</a:t>
            </a:r>
            <a:r>
              <a:rPr dirty="0" sz="5200" spc="-105">
                <a:latin typeface="Arial"/>
                <a:cs typeface="Arial"/>
              </a:rPr>
              <a:t> </a:t>
            </a:r>
            <a:r>
              <a:rPr dirty="0" sz="5200" spc="-25">
                <a:latin typeface="Arial"/>
                <a:cs typeface="Arial"/>
              </a:rPr>
              <a:t>YOU</a:t>
            </a:r>
            <a:endParaRPr sz="5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2026-09-03T11:13:27Z</dcterms:created>
  <dcterms:modified xsi:type="dcterms:W3CDTF">2026-09-03T11:13:27Z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2026-09-03T00:00:00Z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2026-09-03T00:00:00Z</vt:filetime>
  </property>
  <property fmtid="{D5CDD505-2E9C-101B-9397-08002B2CF9AE}" pid="6" name="Producer">
    <vt:lpwstr>Microsoft® PowerPoint® 2024</vt:lpwstr>
  </property>
</Properties>
</file>